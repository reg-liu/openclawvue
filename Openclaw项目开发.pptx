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4" r:id="rId18"/>
    <p:sldId id="272" r:id="rId19"/>
    <p:sldId id="273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5022" y="16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8838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7013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6281" y="868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2D3E50"/>
                </a:solidFill>
              </a:rPr>
              <a:t>Openclaw项目开发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66281" y="2057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7F8C8D"/>
                </a:solidFill>
              </a:rPr>
              <a:t>AI助手框架完整指南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D3E50"/>
                </a:solidFill>
              </a:rPr>
              <a:t>Openclaw部署方案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0" y="4114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5A5A6"/>
                </a:solidFill>
              </a:rPr>
              <a:t>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3389829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34495E"/>
                </a:solidFill>
              </a:rPr>
              <a:t>Prompt: </a:t>
            </a:r>
            <a:r>
              <a:rPr lang="en-US" sz="1600" dirty="0" err="1">
                <a:solidFill>
                  <a:srgbClr val="34495E"/>
                </a:solidFill>
              </a:rPr>
              <a:t>Openclaw</a:t>
            </a:r>
            <a:r>
              <a:rPr lang="zh-CN" altLang="en-US" sz="1600" dirty="0">
                <a:solidFill>
                  <a:srgbClr val="34495E"/>
                </a:solidFill>
              </a:rPr>
              <a:t>部署方案有哪些，分别有哪些优劣势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468881"/>
            <a:ext cx="36499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495E"/>
                </a:solidFill>
              </a:rPr>
              <a:t>本地部署视频参考：https://www.bilibili.com/video/BV1ayPqzQEUo</a:t>
            </a:r>
            <a:endParaRPr lang="en-US" sz="1600" dirty="0"/>
          </a:p>
        </p:txBody>
      </p:sp>
      <p:pic>
        <p:nvPicPr>
          <p:cNvPr id="1025" name="Picture 1">
            <a:extLst>
              <a:ext uri="{FF2B5EF4-FFF2-40B4-BE49-F238E27FC236}">
                <a16:creationId xmlns:a16="http://schemas.microsoft.com/office/drawing/2014/main" id="{D91973C9-A3FB-4C89-8240-8ACCB51434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02" y="238714"/>
            <a:ext cx="4064000" cy="466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6887E787-82AA-452E-81AE-D95F951418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2652" y="-6906213"/>
            <a:ext cx="3263702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D3E50"/>
                </a:solidFill>
              </a:rPr>
              <a:t>大语言模型选择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0" y="4114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5A5A6"/>
                </a:solidFill>
              </a:rPr>
              <a:t>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1356359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CN" sz="1600" dirty="0">
                <a:solidFill>
                  <a:srgbClr val="34495E"/>
                </a:solidFill>
              </a:rPr>
              <a:t>Prompt: </a:t>
            </a:r>
            <a:r>
              <a:rPr lang="zh-CN" altLang="en-US" sz="1600" dirty="0">
                <a:solidFill>
                  <a:srgbClr val="34495E"/>
                </a:solidFill>
              </a:rPr>
              <a:t>目前部署</a:t>
            </a:r>
            <a:r>
              <a:rPr lang="en-US" altLang="zh-CN" sz="1600" dirty="0" err="1">
                <a:solidFill>
                  <a:srgbClr val="34495E"/>
                </a:solidFill>
              </a:rPr>
              <a:t>openclaw</a:t>
            </a:r>
            <a:r>
              <a:rPr lang="zh-CN" altLang="en-US" sz="1600" dirty="0">
                <a:solidFill>
                  <a:srgbClr val="34495E"/>
                </a:solidFill>
              </a:rPr>
              <a:t>，入门，进阶，高级几个阶段，你会分别推荐哪些大语言模型，按能力，擅长方向和费用考虑</a:t>
            </a:r>
            <a:endParaRPr lang="en-US" sz="1600" dirty="0"/>
          </a:p>
        </p:txBody>
      </p:sp>
      <p:pic>
        <p:nvPicPr>
          <p:cNvPr id="2049" name="Picture 1">
            <a:extLst>
              <a:ext uri="{FF2B5EF4-FFF2-40B4-BE49-F238E27FC236}">
                <a16:creationId xmlns:a16="http://schemas.microsoft.com/office/drawing/2014/main" id="{896DF9F9-A86D-4E20-89C7-088431C05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" y="1931755"/>
            <a:ext cx="6515100" cy="2754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0A13DBB5-BBDE-491E-9945-450ED115F7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" y="304800"/>
            <a:ext cx="4955241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D3E50"/>
                </a:solidFill>
              </a:rPr>
              <a:t>平台联动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0" y="4114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5A5A6"/>
                </a:solidFill>
              </a:rPr>
              <a:t>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3106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34495E"/>
                </a:solidFill>
              </a:rPr>
              <a:t>Prompt: </a:t>
            </a:r>
            <a:r>
              <a:rPr lang="en-US" sz="1600" dirty="0" err="1">
                <a:solidFill>
                  <a:srgbClr val="34495E"/>
                </a:solidFill>
              </a:rPr>
              <a:t>Openclaw</a:t>
            </a:r>
            <a:r>
              <a:rPr lang="en-US" sz="1600" dirty="0">
                <a:solidFill>
                  <a:srgbClr val="34495E"/>
                </a:solidFill>
              </a:rPr>
              <a:t> </a:t>
            </a:r>
            <a:r>
              <a:rPr lang="zh-CN" altLang="en-US" sz="1600" dirty="0">
                <a:solidFill>
                  <a:srgbClr val="34495E"/>
                </a:solidFill>
              </a:rPr>
              <a:t>飞书联动是指什么，目前国内还有哪些平台开放了对</a:t>
            </a:r>
            <a:r>
              <a:rPr lang="en-US" sz="1600" dirty="0" err="1">
                <a:solidFill>
                  <a:srgbClr val="34495E"/>
                </a:solidFill>
              </a:rPr>
              <a:t>Openclaw</a:t>
            </a:r>
            <a:r>
              <a:rPr lang="en-US" sz="1600" dirty="0">
                <a:solidFill>
                  <a:srgbClr val="34495E"/>
                </a:solidFill>
              </a:rPr>
              <a:t> </a:t>
            </a:r>
            <a:r>
              <a:rPr lang="zh-CN" altLang="en-US" sz="1600" dirty="0">
                <a:solidFill>
                  <a:srgbClr val="34495E"/>
                </a:solidFill>
              </a:rPr>
              <a:t>的支持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2613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CN" sz="1600" dirty="0" err="1">
                <a:solidFill>
                  <a:srgbClr val="34495E"/>
                </a:solidFill>
              </a:rPr>
              <a:t>OpenClaw</a:t>
            </a:r>
            <a:r>
              <a:rPr lang="en-US" altLang="zh-CN" sz="1600" dirty="0">
                <a:solidFill>
                  <a:srgbClr val="34495E"/>
                </a:solidFill>
              </a:rPr>
              <a:t> </a:t>
            </a:r>
            <a:r>
              <a:rPr lang="zh-CN" altLang="en-US" sz="1600" dirty="0">
                <a:solidFill>
                  <a:srgbClr val="34495E"/>
                </a:solidFill>
              </a:rPr>
              <a:t>与飞书的联动，简单来说，就是将 </a:t>
            </a:r>
            <a:r>
              <a:rPr lang="en-US" altLang="zh-CN" sz="1600" dirty="0" err="1">
                <a:solidFill>
                  <a:srgbClr val="34495E"/>
                </a:solidFill>
              </a:rPr>
              <a:t>OpenClaw</a:t>
            </a:r>
            <a:r>
              <a:rPr lang="en-US" altLang="zh-CN" sz="1600" dirty="0">
                <a:solidFill>
                  <a:srgbClr val="34495E"/>
                </a:solidFill>
              </a:rPr>
              <a:t> </a:t>
            </a:r>
            <a:r>
              <a:rPr lang="zh-CN" altLang="en-US" sz="1600" dirty="0">
                <a:solidFill>
                  <a:srgbClr val="34495E"/>
                </a:solidFill>
              </a:rPr>
              <a:t>作为“</a:t>
            </a:r>
            <a:r>
              <a:rPr lang="en-US" altLang="zh-CN" sz="1600" dirty="0">
                <a:solidFill>
                  <a:srgbClr val="34495E"/>
                </a:solidFill>
              </a:rPr>
              <a:t>AI</a:t>
            </a:r>
            <a:r>
              <a:rPr lang="zh-CN" altLang="en-US" sz="1600" dirty="0">
                <a:solidFill>
                  <a:srgbClr val="34495E"/>
                </a:solidFill>
              </a:rPr>
              <a:t>大脑”接入飞书，让它以机器人的形式在飞书群里与你交互，帮你执行任务</a:t>
            </a:r>
            <a:endParaRPr lang="en-US" altLang="zh-CN" sz="1600" dirty="0">
              <a:solidFill>
                <a:srgbClr val="34495E"/>
              </a:solidFill>
            </a:endParaRPr>
          </a:p>
          <a:p>
            <a:endParaRPr lang="en-US" altLang="zh-CN" sz="1600" dirty="0">
              <a:solidFill>
                <a:srgbClr val="34495E"/>
              </a:solidFill>
            </a:endParaRPr>
          </a:p>
          <a:p>
            <a:r>
              <a:rPr lang="zh-CN" altLang="en-US" sz="1600" dirty="0">
                <a:solidFill>
                  <a:srgbClr val="34495E"/>
                </a:solidFill>
              </a:rPr>
              <a:t>比如，你可以在飞书群里</a:t>
            </a:r>
            <a:r>
              <a:rPr lang="en-US" altLang="zh-CN" sz="1600" dirty="0">
                <a:solidFill>
                  <a:srgbClr val="34495E"/>
                </a:solidFill>
              </a:rPr>
              <a:t>@</a:t>
            </a:r>
            <a:r>
              <a:rPr lang="zh-CN" altLang="en-US" sz="1600" dirty="0">
                <a:solidFill>
                  <a:srgbClr val="34495E"/>
                </a:solidFill>
              </a:rPr>
              <a:t>机器人，让它帮你整理周报、查询数据、甚至操作其他软件，机器人调用 </a:t>
            </a:r>
            <a:r>
              <a:rPr lang="en-US" altLang="zh-CN" sz="1600" dirty="0" err="1">
                <a:solidFill>
                  <a:srgbClr val="34495E"/>
                </a:solidFill>
              </a:rPr>
              <a:t>OpenClaw</a:t>
            </a:r>
            <a:r>
              <a:rPr lang="en-US" altLang="zh-CN" sz="1600" dirty="0">
                <a:solidFill>
                  <a:srgbClr val="34495E"/>
                </a:solidFill>
              </a:rPr>
              <a:t> </a:t>
            </a:r>
            <a:r>
              <a:rPr lang="zh-CN" altLang="en-US" sz="1600" dirty="0">
                <a:solidFill>
                  <a:srgbClr val="34495E"/>
                </a:solidFill>
              </a:rPr>
              <a:t>的智能体完成任务后，再把结果发回群里</a:t>
            </a:r>
            <a:endParaRPr lang="en-US" altLang="zh-CN" sz="1600" dirty="0">
              <a:solidFill>
                <a:srgbClr val="34495E"/>
              </a:solidFill>
            </a:endParaRPr>
          </a:p>
          <a:p>
            <a:endParaRPr lang="en-US" altLang="zh-CN" sz="1600" dirty="0">
              <a:solidFill>
                <a:srgbClr val="34495E"/>
              </a:solidFill>
            </a:endParaRPr>
          </a:p>
          <a:p>
            <a:r>
              <a:rPr lang="zh-CN" altLang="en-US" sz="1600" dirty="0">
                <a:solidFill>
                  <a:srgbClr val="34495E"/>
                </a:solidFill>
              </a:rPr>
              <a:t>这种联动的本质是：</a:t>
            </a:r>
            <a:r>
              <a:rPr lang="en-US" altLang="zh-CN" sz="1600" dirty="0" err="1">
                <a:solidFill>
                  <a:srgbClr val="34495E"/>
                </a:solidFill>
              </a:rPr>
              <a:t>OpenClaw</a:t>
            </a:r>
            <a:r>
              <a:rPr lang="en-US" altLang="zh-CN" sz="1600" dirty="0">
                <a:solidFill>
                  <a:srgbClr val="34495E"/>
                </a:solidFill>
              </a:rPr>
              <a:t> </a:t>
            </a:r>
            <a:r>
              <a:rPr lang="zh-CN" altLang="en-US" sz="1600" dirty="0">
                <a:solidFill>
                  <a:srgbClr val="34495E"/>
                </a:solidFill>
              </a:rPr>
              <a:t>通过飞书开放 </a:t>
            </a:r>
            <a:r>
              <a:rPr lang="en-US" altLang="zh-CN" sz="1600" dirty="0">
                <a:solidFill>
                  <a:srgbClr val="34495E"/>
                </a:solidFill>
              </a:rPr>
              <a:t>API</a:t>
            </a:r>
            <a:r>
              <a:rPr lang="zh-CN" altLang="en-US" sz="1600" dirty="0">
                <a:solidFill>
                  <a:srgbClr val="34495E"/>
                </a:solidFill>
              </a:rPr>
              <a:t>，接收飞书的消息事件，触发相应的智能体工作流，再将结果通过飞书机器人回复给用户。它让 </a:t>
            </a:r>
            <a:r>
              <a:rPr lang="en-US" altLang="zh-CN" sz="1600" dirty="0">
                <a:solidFill>
                  <a:srgbClr val="34495E"/>
                </a:solidFill>
              </a:rPr>
              <a:t>AI </a:t>
            </a:r>
            <a:r>
              <a:rPr lang="zh-CN" altLang="en-US" sz="1600" dirty="0">
                <a:solidFill>
                  <a:srgbClr val="34495E"/>
                </a:solidFill>
              </a:rPr>
              <a:t>能力无缝融入到你的日常工作沟通中，大大提升了协作效率</a:t>
            </a:r>
            <a:endParaRPr lang="en-US" altLang="zh-CN" sz="1600" dirty="0">
              <a:solidFill>
                <a:srgbClr val="34495E"/>
              </a:solidFill>
            </a:endParaRPr>
          </a:p>
          <a:p>
            <a:endParaRPr lang="en-US" altLang="zh-CN" sz="1600" dirty="0">
              <a:solidFill>
                <a:srgbClr val="34495E"/>
              </a:solidFill>
            </a:endParaRPr>
          </a:p>
          <a:p>
            <a:r>
              <a:rPr lang="en-US" altLang="zh-CN" sz="1600" dirty="0">
                <a:solidFill>
                  <a:srgbClr val="34495E"/>
                </a:solidFill>
              </a:rPr>
              <a:t>https://www.bilibili.com/video/BV1DGAYzPELm/?share_source=copy_web&amp;vd_source=7aa77539b875c49d42503a7a54edd785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D3E50"/>
                </a:solidFill>
              </a:rPr>
              <a:t>学习最佳实践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0" y="4114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5A5A6"/>
                </a:solidFill>
              </a:rPr>
              <a:t>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495E"/>
                </a:solidFill>
              </a:rPr>
              <a:t>从成熟项目直接启用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495E"/>
                </a:solidFill>
              </a:rPr>
              <a:t>配置基础软件、技能和定时任务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495E"/>
                </a:solidFill>
              </a:rPr>
              <a:t>参考：https://github.com/Work-Fisher/openclaw-ai-assistant-framework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D3E50"/>
                </a:solidFill>
              </a:rPr>
              <a:t>配置逻辑总览</a:t>
            </a:r>
            <a:endParaRPr lang="en-US" sz="3200" dirty="0"/>
          </a:p>
        </p:txBody>
      </p:sp>
      <p:pic>
        <p:nvPicPr>
          <p:cNvPr id="3073" name="Picture 1">
            <a:extLst>
              <a:ext uri="{FF2B5EF4-FFF2-40B4-BE49-F238E27FC236}">
                <a16:creationId xmlns:a16="http://schemas.microsoft.com/office/drawing/2014/main" id="{193BE469-76DE-4AE9-BFD7-22DE99C30F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4499" y="0"/>
            <a:ext cx="3810000" cy="5079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2">
            <a:extLst>
              <a:ext uri="{FF2B5EF4-FFF2-40B4-BE49-F238E27FC236}">
                <a16:creationId xmlns:a16="http://schemas.microsoft.com/office/drawing/2014/main" id="{572DFE7E-4643-4C0D-9987-9BF6F7941A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4500" y="-8636000"/>
            <a:ext cx="2264247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D3E50"/>
                </a:solidFill>
              </a:rPr>
              <a:t>人格设定-IDENTITY</a:t>
            </a:r>
            <a:endParaRPr lang="en-US" sz="3200" dirty="0"/>
          </a:p>
        </p:txBody>
      </p:sp>
      <p:pic>
        <p:nvPicPr>
          <p:cNvPr id="4097" name="Picture 1">
            <a:extLst>
              <a:ext uri="{FF2B5EF4-FFF2-40B4-BE49-F238E27FC236}">
                <a16:creationId xmlns:a16="http://schemas.microsoft.com/office/drawing/2014/main" id="{1678C0AE-3431-4B66-8864-B774B2451F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51505"/>
            <a:ext cx="3780367" cy="5040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41EDB108-E616-45E8-B916-BACAA10AD8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-6076950"/>
            <a:ext cx="441019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D3E50"/>
                </a:solidFill>
              </a:rPr>
              <a:t>人格设定-SOUL</a:t>
            </a:r>
            <a:endParaRPr lang="en-US" sz="3200" dirty="0"/>
          </a:p>
        </p:txBody>
      </p:sp>
      <p:pic>
        <p:nvPicPr>
          <p:cNvPr id="8" name="Picture 1">
            <a:extLst>
              <a:ext uri="{FF2B5EF4-FFF2-40B4-BE49-F238E27FC236}">
                <a16:creationId xmlns:a16="http://schemas.microsoft.com/office/drawing/2014/main" id="{E1002357-270B-410E-8A6D-F43EC7D4D3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4572000" y="51505"/>
            <a:ext cx="3780366" cy="5040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D3E50"/>
                </a:solidFill>
              </a:rPr>
              <a:t>人格设定-USER</a:t>
            </a:r>
            <a:endParaRPr lang="en-US" sz="3200" dirty="0"/>
          </a:p>
        </p:txBody>
      </p:sp>
      <p:pic>
        <p:nvPicPr>
          <p:cNvPr id="8" name="Picture 1">
            <a:extLst>
              <a:ext uri="{FF2B5EF4-FFF2-40B4-BE49-F238E27FC236}">
                <a16:creationId xmlns:a16="http://schemas.microsoft.com/office/drawing/2014/main" id="{6C18B1F6-D023-4C3C-972A-8D7FAB35B7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4572000" y="51505"/>
            <a:ext cx="3780366" cy="5040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D3E50"/>
                </a:solidFill>
              </a:rPr>
              <a:t>人格设定-AGENTS</a:t>
            </a:r>
            <a:endParaRPr lang="en-US" sz="3200" dirty="0"/>
          </a:p>
        </p:txBody>
      </p:sp>
      <p:pic>
        <p:nvPicPr>
          <p:cNvPr id="8" name="Picture 1">
            <a:extLst>
              <a:ext uri="{FF2B5EF4-FFF2-40B4-BE49-F238E27FC236}">
                <a16:creationId xmlns:a16="http://schemas.microsoft.com/office/drawing/2014/main" id="{85D55C2E-1D9B-457F-8BE6-756056E283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4572000" y="51505"/>
            <a:ext cx="3780366" cy="5040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D3E50"/>
                </a:solidFill>
              </a:rPr>
              <a:t>人格设定-MEMORY</a:t>
            </a:r>
            <a:endParaRPr lang="en-US" sz="3200" dirty="0"/>
          </a:p>
        </p:txBody>
      </p:sp>
      <p:pic>
        <p:nvPicPr>
          <p:cNvPr id="8" name="Picture 1">
            <a:extLst>
              <a:ext uri="{FF2B5EF4-FFF2-40B4-BE49-F238E27FC236}">
                <a16:creationId xmlns:a16="http://schemas.microsoft.com/office/drawing/2014/main" id="{029C9778-2077-42FA-8FFE-DDF8537DCB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4572000" y="51505"/>
            <a:ext cx="3780366" cy="5040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D3E50"/>
                </a:solidFill>
              </a:rPr>
              <a:t>人格设定-HEARTBEAT</a:t>
            </a:r>
            <a:endParaRPr lang="en-US" sz="3200" dirty="0"/>
          </a:p>
        </p:txBody>
      </p:sp>
      <p:pic>
        <p:nvPicPr>
          <p:cNvPr id="7" name="Picture 1">
            <a:extLst>
              <a:ext uri="{FF2B5EF4-FFF2-40B4-BE49-F238E27FC236}">
                <a16:creationId xmlns:a16="http://schemas.microsoft.com/office/drawing/2014/main" id="{B978D673-ED9F-4686-963B-063883A48E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4572000" y="51505"/>
            <a:ext cx="3780366" cy="5040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D3E50"/>
                </a:solidFill>
              </a:rPr>
              <a:t>定时任务和HEARTBEAT的区别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0070" y="16459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CN" sz="2000" dirty="0">
                <a:solidFill>
                  <a:srgbClr val="34495E"/>
                </a:solidFill>
              </a:rPr>
              <a:t>HEARTBEAT </a:t>
            </a:r>
          </a:p>
          <a:p>
            <a:r>
              <a:rPr lang="zh-CN" altLang="en-US" sz="2000" dirty="0">
                <a:solidFill>
                  <a:srgbClr val="34495E"/>
                </a:solidFill>
              </a:rPr>
              <a:t>处理常规的、可批量进行的监控任务，例如每</a:t>
            </a:r>
            <a:r>
              <a:rPr lang="en-US" altLang="zh-CN" sz="2000" dirty="0">
                <a:solidFill>
                  <a:srgbClr val="34495E"/>
                </a:solidFill>
              </a:rPr>
              <a:t>30</a:t>
            </a:r>
            <a:r>
              <a:rPr lang="zh-CN" altLang="en-US" sz="2000" dirty="0">
                <a:solidFill>
                  <a:srgbClr val="34495E"/>
                </a:solidFill>
              </a:rPr>
              <a:t>分钟检查一次收件箱、日历和通知。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60070" y="30175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CN" altLang="en-US" sz="2000" dirty="0">
                <a:solidFill>
                  <a:srgbClr val="34495E"/>
                </a:solidFill>
              </a:rPr>
              <a:t>定时任务 </a:t>
            </a:r>
            <a:endParaRPr lang="en-US" altLang="zh-CN" sz="2000" dirty="0">
              <a:solidFill>
                <a:srgbClr val="34495E"/>
              </a:solidFill>
            </a:endParaRPr>
          </a:p>
          <a:p>
            <a:r>
              <a:rPr lang="zh-CN" altLang="en-US" sz="2000" dirty="0">
                <a:solidFill>
                  <a:srgbClr val="34495E"/>
                </a:solidFill>
              </a:rPr>
              <a:t>处理那些需要精确到点、或者任务本身比较重的专项工作，例如每天早上</a:t>
            </a:r>
            <a:r>
              <a:rPr lang="en-US" altLang="zh-CN" sz="2000" dirty="0">
                <a:solidFill>
                  <a:srgbClr val="34495E"/>
                </a:solidFill>
              </a:rPr>
              <a:t>7</a:t>
            </a:r>
            <a:r>
              <a:rPr lang="zh-CN" altLang="en-US" sz="2000" dirty="0">
                <a:solidFill>
                  <a:srgbClr val="34495E"/>
                </a:solidFill>
              </a:rPr>
              <a:t>点生成简报、每周一上午</a:t>
            </a:r>
            <a:r>
              <a:rPr lang="en-US" altLang="zh-CN" sz="2000" dirty="0">
                <a:solidFill>
                  <a:srgbClr val="34495E"/>
                </a:solidFill>
              </a:rPr>
              <a:t>9</a:t>
            </a:r>
            <a:r>
              <a:rPr lang="zh-CN" altLang="en-US" sz="2000" dirty="0">
                <a:solidFill>
                  <a:srgbClr val="34495E"/>
                </a:solidFill>
              </a:rPr>
              <a:t>点进行项目回顾。</a:t>
            </a:r>
            <a:endParaRPr lang="en-US" sz="20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EC7A6A47-21D1-4AF4-9823-D5DC1A4D00F4}"/>
              </a:ext>
            </a:extLst>
          </p:cNvPr>
          <p:cNvSpPr/>
          <p:nvPr/>
        </p:nvSpPr>
        <p:spPr>
          <a:xfrm>
            <a:off x="560070" y="429387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CN" altLang="en-US" sz="2000" dirty="0">
                <a:solidFill>
                  <a:srgbClr val="34495E"/>
                </a:solidFill>
              </a:rPr>
              <a:t>帮我整理期刊</a:t>
            </a:r>
            <a:r>
              <a:rPr lang="en-US" altLang="zh-CN" sz="2000" dirty="0">
                <a:solidFill>
                  <a:srgbClr val="34495E"/>
                </a:solidFill>
              </a:rPr>
              <a:t>xxx</a:t>
            </a:r>
            <a:r>
              <a:rPr lang="zh-CN" altLang="en-US" sz="2000" dirty="0">
                <a:solidFill>
                  <a:srgbClr val="34495E"/>
                </a:solidFill>
              </a:rPr>
              <a:t>上关于</a:t>
            </a:r>
            <a:r>
              <a:rPr lang="en-US" altLang="zh-CN" sz="2000" dirty="0">
                <a:solidFill>
                  <a:srgbClr val="34495E"/>
                </a:solidFill>
              </a:rPr>
              <a:t>xxx</a:t>
            </a:r>
            <a:r>
              <a:rPr lang="zh-CN" altLang="en-US" sz="2000" dirty="0">
                <a:solidFill>
                  <a:srgbClr val="34495E"/>
                </a:solidFill>
              </a:rPr>
              <a:t>主题的相关文献，下载到本地桌面文件夹，并生成一份概述报告。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D3E50"/>
                </a:solidFill>
              </a:rPr>
              <a:t>为什么叫养龙虾</a:t>
            </a:r>
            <a:endParaRPr lang="en-US" sz="3200" dirty="0"/>
          </a:p>
        </p:txBody>
      </p:sp>
      <p:pic>
        <p:nvPicPr>
          <p:cNvPr id="7" name="Picture 1">
            <a:extLst>
              <a:ext uri="{FF2B5EF4-FFF2-40B4-BE49-F238E27FC236}">
                <a16:creationId xmlns:a16="http://schemas.microsoft.com/office/drawing/2014/main" id="{73213A6E-B31E-4E43-A4C8-60E8316C70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4572000" y="51505"/>
            <a:ext cx="3780366" cy="5040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D3E50"/>
                </a:solidFill>
              </a:rPr>
              <a:t>扩展Skill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571750"/>
            <a:ext cx="7772400" cy="9258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CN" altLang="en-US" sz="1600" dirty="0">
                <a:solidFill>
                  <a:srgbClr val="34495E"/>
                </a:solidFill>
              </a:rPr>
              <a:t>社区已经有人开发了可以直接实现“自动学习”功能的技能插件，安装后配置一下就能用，更加省心。 </a:t>
            </a:r>
            <a:endParaRPr lang="en-US" altLang="zh-CN" sz="1600" dirty="0">
              <a:solidFill>
                <a:srgbClr val="34495E"/>
              </a:solidFill>
            </a:endParaRPr>
          </a:p>
          <a:p>
            <a:r>
              <a:rPr lang="en-US" altLang="zh-CN" sz="1600" dirty="0">
                <a:solidFill>
                  <a:srgbClr val="34495E"/>
                </a:solidFill>
              </a:rPr>
              <a:t>Self-Improving Agent </a:t>
            </a:r>
            <a:r>
              <a:rPr lang="zh-CN" altLang="en-US" sz="1600" dirty="0">
                <a:solidFill>
                  <a:srgbClr val="34495E"/>
                </a:solidFill>
              </a:rPr>
              <a:t>技能：这是一个专门让 </a:t>
            </a:r>
            <a:r>
              <a:rPr lang="en-US" altLang="zh-CN" sz="1600" dirty="0">
                <a:solidFill>
                  <a:srgbClr val="34495E"/>
                </a:solidFill>
              </a:rPr>
              <a:t>AI </a:t>
            </a:r>
            <a:r>
              <a:rPr lang="zh-CN" altLang="en-US" sz="1600" dirty="0">
                <a:solidFill>
                  <a:srgbClr val="34495E"/>
                </a:solidFill>
              </a:rPr>
              <a:t>具备持续自我改进能力的技能。它通过记录用户的纠正、偏好等信号，并将这些学习成果存入本地的 </a:t>
            </a:r>
            <a:r>
              <a:rPr lang="en-US" altLang="zh-CN" sz="1600" dirty="0">
                <a:solidFill>
                  <a:srgbClr val="34495E"/>
                </a:solidFill>
              </a:rPr>
              <a:t>Markdown </a:t>
            </a:r>
            <a:r>
              <a:rPr lang="zh-CN" altLang="en-US" sz="1600" dirty="0">
                <a:solidFill>
                  <a:srgbClr val="34495E"/>
                </a:solidFill>
              </a:rPr>
              <a:t>文件（如 </a:t>
            </a:r>
            <a:r>
              <a:rPr lang="en-US" altLang="zh-CN" sz="1600" dirty="0">
                <a:solidFill>
                  <a:srgbClr val="34495E"/>
                </a:solidFill>
              </a:rPr>
              <a:t>corrections.md</a:t>
            </a:r>
            <a:r>
              <a:rPr lang="zh-CN" altLang="en-US" sz="1600" dirty="0">
                <a:solidFill>
                  <a:srgbClr val="34495E"/>
                </a:solidFill>
              </a:rPr>
              <a:t>），实现跨会话的“记忆力”，让 </a:t>
            </a:r>
            <a:r>
              <a:rPr lang="en-US" altLang="zh-CN" sz="1600" dirty="0">
                <a:solidFill>
                  <a:srgbClr val="34495E"/>
                </a:solidFill>
              </a:rPr>
              <a:t>AI </a:t>
            </a:r>
            <a:r>
              <a:rPr lang="zh-CN" altLang="en-US" sz="1600" dirty="0">
                <a:solidFill>
                  <a:srgbClr val="34495E"/>
                </a:solidFill>
              </a:rPr>
              <a:t>越用越顺手。你可以先安装这个技能，然后像方案一那样创建一个定时任务，定期让它复盘并提炼新的规则。 </a:t>
            </a:r>
            <a:endParaRPr lang="en-US" altLang="zh-CN" sz="1600" dirty="0">
              <a:solidFill>
                <a:srgbClr val="34495E"/>
              </a:solidFill>
            </a:endParaRPr>
          </a:p>
          <a:p>
            <a:endParaRPr lang="en-US" altLang="zh-CN" sz="1600" dirty="0">
              <a:solidFill>
                <a:srgbClr val="34495E"/>
              </a:solidFill>
            </a:endParaRPr>
          </a:p>
          <a:p>
            <a:r>
              <a:rPr lang="en-US" altLang="zh-CN" sz="1600" dirty="0">
                <a:solidFill>
                  <a:srgbClr val="34495E"/>
                </a:solidFill>
              </a:rPr>
              <a:t>Auto-Updater Skill</a:t>
            </a:r>
            <a:r>
              <a:rPr lang="zh-CN" altLang="en-US" sz="1600" dirty="0">
                <a:solidFill>
                  <a:srgbClr val="34495E"/>
                </a:solidFill>
              </a:rPr>
              <a:t>：这个技能主要关注 </a:t>
            </a:r>
            <a:r>
              <a:rPr lang="en-US" altLang="zh-CN" sz="1600" dirty="0" err="1">
                <a:solidFill>
                  <a:srgbClr val="34495E"/>
                </a:solidFill>
              </a:rPr>
              <a:t>OpenClaw</a:t>
            </a:r>
            <a:r>
              <a:rPr lang="en-US" altLang="zh-CN" sz="1600" dirty="0">
                <a:solidFill>
                  <a:srgbClr val="34495E"/>
                </a:solidFill>
              </a:rPr>
              <a:t> </a:t>
            </a:r>
            <a:r>
              <a:rPr lang="zh-CN" altLang="en-US" sz="1600" dirty="0">
                <a:solidFill>
                  <a:srgbClr val="34495E"/>
                </a:solidFill>
              </a:rPr>
              <a:t>自身本体和所有已安装技能的版本更新。它可以配置每日定时任务，自动检查并更新到最新版本，并向你推送包含版本变化的更新摘要。这确保了你的 </a:t>
            </a:r>
            <a:r>
              <a:rPr lang="en-US" altLang="zh-CN" sz="1600" dirty="0" err="1">
                <a:solidFill>
                  <a:srgbClr val="34495E"/>
                </a:solidFill>
              </a:rPr>
              <a:t>OpenClaw</a:t>
            </a:r>
            <a:r>
              <a:rPr lang="en-US" altLang="zh-CN" sz="1600" dirty="0">
                <a:solidFill>
                  <a:srgbClr val="34495E"/>
                </a:solidFill>
              </a:rPr>
              <a:t> </a:t>
            </a:r>
            <a:r>
              <a:rPr lang="zh-CN" altLang="en-US" sz="1600" dirty="0">
                <a:solidFill>
                  <a:srgbClr val="34495E"/>
                </a:solidFill>
              </a:rPr>
              <a:t>始终拥有最新的功能和安全性，也是一种基础层面的“自我进化”。 这两种方式并不冲突，你可以组合使用：用 </a:t>
            </a:r>
            <a:r>
              <a:rPr lang="en-US" altLang="zh-CN" sz="1600" dirty="0">
                <a:solidFill>
                  <a:srgbClr val="34495E"/>
                </a:solidFill>
              </a:rPr>
              <a:t>Auto-Updater </a:t>
            </a:r>
            <a:r>
              <a:rPr lang="zh-CN" altLang="en-US" sz="1600" dirty="0">
                <a:solidFill>
                  <a:srgbClr val="34495E"/>
                </a:solidFill>
              </a:rPr>
              <a:t>保证工具最新，用 </a:t>
            </a:r>
            <a:r>
              <a:rPr lang="en-US" altLang="zh-CN" sz="1600" dirty="0">
                <a:solidFill>
                  <a:srgbClr val="34495E"/>
                </a:solidFill>
              </a:rPr>
              <a:t>Self-Improving Agent </a:t>
            </a:r>
            <a:r>
              <a:rPr lang="zh-CN" altLang="en-US" sz="1600" dirty="0">
                <a:solidFill>
                  <a:srgbClr val="34495E"/>
                </a:solidFill>
              </a:rPr>
              <a:t>结合你的自定义定时任务，让 </a:t>
            </a:r>
            <a:r>
              <a:rPr lang="en-US" altLang="zh-CN" sz="1600" dirty="0">
                <a:solidFill>
                  <a:srgbClr val="34495E"/>
                </a:solidFill>
              </a:rPr>
              <a:t>AI </a:t>
            </a:r>
            <a:r>
              <a:rPr lang="zh-CN" altLang="en-US" sz="1600" dirty="0">
                <a:solidFill>
                  <a:srgbClr val="34495E"/>
                </a:solidFill>
              </a:rPr>
              <a:t>越来越懂你。 </a:t>
            </a:r>
            <a:endParaRPr lang="en-US" altLang="zh-CN" sz="1600" dirty="0">
              <a:solidFill>
                <a:srgbClr val="34495E"/>
              </a:solidFill>
            </a:endParaRPr>
          </a:p>
          <a:p>
            <a:endParaRPr lang="en-US" altLang="zh-CN" sz="1600" dirty="0">
              <a:solidFill>
                <a:srgbClr val="34495E"/>
              </a:solidFill>
            </a:endParaRPr>
          </a:p>
          <a:p>
            <a:r>
              <a:rPr lang="zh-CN" altLang="en-US" sz="1600" dirty="0">
                <a:solidFill>
                  <a:srgbClr val="34495E"/>
                </a:solidFill>
              </a:rPr>
              <a:t>你是打算让它主要通过学习对话记录来优化回复风格，还是想让它自动发现和安装新的有用技能？告诉我你的核心目标，我可以帮你进一步完善具体的指令或配置步骤。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D3E50"/>
                </a:solidFill>
              </a:rPr>
              <a:t>规则设置</a:t>
            </a:r>
            <a:endParaRPr lang="en-US" sz="3200" dirty="0"/>
          </a:p>
        </p:txBody>
      </p:sp>
      <p:pic>
        <p:nvPicPr>
          <p:cNvPr id="14" name="Picture 1">
            <a:extLst>
              <a:ext uri="{FF2B5EF4-FFF2-40B4-BE49-F238E27FC236}">
                <a16:creationId xmlns:a16="http://schemas.microsoft.com/office/drawing/2014/main" id="{A11D1B28-9758-4C78-8332-317767F037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4577236" y="51505"/>
            <a:ext cx="3769894" cy="5040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D3E50"/>
                </a:solidFill>
              </a:rPr>
              <a:t>规则设置</a:t>
            </a:r>
            <a:endParaRPr lang="en-US" sz="3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D5092EC-3099-442A-8AE1-2F8C27CA9ACC}"/>
              </a:ext>
            </a:extLst>
          </p:cNvPr>
          <p:cNvSpPr/>
          <p:nvPr/>
        </p:nvSpPr>
        <p:spPr>
          <a:xfrm>
            <a:off x="457200" y="2171700"/>
            <a:ext cx="7772400" cy="18859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CN" altLang="en-US" dirty="0">
                <a:solidFill>
                  <a:srgbClr val="34495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请扫描我最近一周的会话日志，找出其中我被纠正过的错误，以及用户反复强调的偏好，将它们整理成新的规则，并添加到自我改进的记忆库中。</a:t>
            </a:r>
            <a:endParaRPr lang="en-US" altLang="zh-CN" dirty="0">
              <a:solidFill>
                <a:srgbClr val="34495E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endParaRPr lang="en-US" altLang="zh-CN" dirty="0">
              <a:solidFill>
                <a:srgbClr val="34495E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r>
              <a:rPr lang="zh-CN" altLang="en-US" dirty="0">
                <a:solidFill>
                  <a:srgbClr val="34495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沟通规则 </a:t>
            </a:r>
            <a:r>
              <a:rPr lang="en-US" altLang="zh-CN" dirty="0">
                <a:solidFill>
                  <a:srgbClr val="34495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SOUL</a:t>
            </a:r>
          </a:p>
          <a:p>
            <a:r>
              <a:rPr lang="zh-CN" altLang="en-US" dirty="0">
                <a:solidFill>
                  <a:srgbClr val="34495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请使用第一性原理思考。你不能总是假设我非常清楚自己想要什么和该怎么得到。请保持审慎，从原始需求和问题出发，如果动机和目标不清晰，停下来和我讨论。如果目标清晰但是路径不是最短，告诉我，并且建议更好的办法。</a:t>
            </a:r>
            <a:endParaRPr lang="en-US" altLang="zh-CN" dirty="0">
              <a:solidFill>
                <a:srgbClr val="34495E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endParaRPr lang="en-US" altLang="zh-CN" dirty="0">
              <a:solidFill>
                <a:srgbClr val="34495E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r>
              <a:rPr lang="zh-CN" altLang="en-US" dirty="0">
                <a:solidFill>
                  <a:srgbClr val="34495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项目规则</a:t>
            </a:r>
            <a:endParaRPr lang="en-US" altLang="zh-CN" dirty="0">
              <a:solidFill>
                <a:srgbClr val="34495E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indent="-342900">
              <a:buAutoNum type="arabicPeriod"/>
            </a:pPr>
            <a:r>
              <a:rPr lang="zh-CN" altLang="en-US" dirty="0">
                <a:solidFill>
                  <a:srgbClr val="34495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启动项目规则</a:t>
            </a:r>
            <a:endParaRPr lang="en-US" altLang="zh-CN" dirty="0">
              <a:solidFill>
                <a:srgbClr val="34495E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indent="-342900">
              <a:buAutoNum type="arabicPeriod"/>
            </a:pPr>
            <a:r>
              <a:rPr lang="en-US" altLang="zh-CN" dirty="0">
                <a:solidFill>
                  <a:srgbClr val="34495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2. </a:t>
            </a:r>
            <a:r>
              <a:rPr lang="zh-CN" altLang="en-US" dirty="0">
                <a:solidFill>
                  <a:srgbClr val="34495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项目书签同步规则</a:t>
            </a:r>
            <a:endParaRPr lang="en-US" altLang="zh-CN" dirty="0">
              <a:solidFill>
                <a:srgbClr val="34495E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indent="-342900">
              <a:buAutoNum type="arabicPeriod"/>
            </a:pPr>
            <a:r>
              <a:rPr lang="en-US" altLang="zh-CN" dirty="0">
                <a:solidFill>
                  <a:srgbClr val="34495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3. </a:t>
            </a:r>
            <a:r>
              <a:rPr lang="zh-CN" altLang="en-US" dirty="0">
                <a:solidFill>
                  <a:srgbClr val="34495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文档改动同步</a:t>
            </a:r>
            <a:endParaRPr lang="en-US" altLang="zh-CN" dirty="0">
              <a:solidFill>
                <a:srgbClr val="34495E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indent="-342900">
              <a:buAutoNum type="arabicPeriod"/>
            </a:pPr>
            <a:r>
              <a:rPr lang="en-US" altLang="zh-CN" dirty="0">
                <a:solidFill>
                  <a:srgbClr val="34495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4. </a:t>
            </a:r>
            <a:r>
              <a:rPr lang="zh-CN" altLang="en-US" dirty="0">
                <a:solidFill>
                  <a:srgbClr val="34495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本地验证流程</a:t>
            </a:r>
            <a:endParaRPr 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754892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D3E50"/>
                </a:solidFill>
              </a:rPr>
              <a:t>文档管理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0" y="4114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5A5A6"/>
                </a:solidFill>
              </a:rPr>
              <a:t>17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495E"/>
                </a:solidFill>
              </a:rPr>
              <a:t>项目目录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495E"/>
                </a:solidFill>
              </a:rPr>
              <a:t>需求文档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495E"/>
                </a:solidFill>
              </a:rPr>
              <a:t>设计规范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495E"/>
                </a:solidFill>
              </a:rPr>
              <a:t>业务组件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495E"/>
                </a:solidFill>
              </a:rPr>
              <a:t>数据结构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9319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495E"/>
                </a:solidFill>
              </a:rPr>
              <a:t>项目排期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D3E50"/>
                </a:solidFill>
              </a:rPr>
              <a:t>项目开发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0" y="4114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5A5A6"/>
                </a:solidFill>
              </a:rPr>
              <a:t>18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495E"/>
                </a:solidFill>
              </a:rPr>
              <a:t>生成Demo项目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495E"/>
                </a:solidFill>
              </a:rPr>
              <a:t>前后端代码检查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495E"/>
                </a:solidFill>
              </a:rPr>
              <a:t>代码提交和部署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495E"/>
                </a:solidFill>
              </a:rPr>
              <a:t>数据准备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495E"/>
                </a:solidFill>
              </a:rPr>
              <a:t>项目联调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9319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495E"/>
                </a:solidFill>
              </a:rPr>
              <a:t>事件上报收集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43891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495E"/>
                </a:solidFill>
              </a:rPr>
              <a:t>测试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816</Words>
  <Application>Microsoft Office PowerPoint</Application>
  <PresentationFormat>全屏显示(16:9)</PresentationFormat>
  <Paragraphs>93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4" baseType="lpstr">
      <vt:lpstr>等线</vt:lpstr>
      <vt:lpstr>微软雅黑 Light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Openclaw项目开发</dc:title>
  <dc:subject>PptxGenJS Presentation</dc:subject>
  <dc:creator>OpenClaw</dc:creator>
  <cp:lastModifiedBy>Administrator</cp:lastModifiedBy>
  <cp:revision>8</cp:revision>
  <dcterms:created xsi:type="dcterms:W3CDTF">2026-03-14T05:13:19Z</dcterms:created>
  <dcterms:modified xsi:type="dcterms:W3CDTF">2026-03-14T05:43:38Z</dcterms:modified>
</cp:coreProperties>
</file>